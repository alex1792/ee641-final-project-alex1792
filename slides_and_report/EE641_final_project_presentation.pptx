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9" r:id="rId6"/>
    <p:sldId id="261" r:id="rId7"/>
    <p:sldId id="268" r:id="rId8"/>
    <p:sldId id="263" r:id="rId9"/>
    <p:sldId id="264" r:id="rId10"/>
    <p:sldId id="265" r:id="rId11"/>
    <p:sldId id="266" r:id="rId12"/>
    <p:sldId id="270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59"/>
    <p:restoredTop sz="93167"/>
  </p:normalViewPr>
  <p:slideViewPr>
    <p:cSldViewPr snapToGrid="0" snapToObjects="1">
      <p:cViewPr>
        <p:scale>
          <a:sx n="96" d="100"/>
          <a:sy n="96" d="100"/>
        </p:scale>
        <p:origin x="2600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A03FF-DDB9-E947-B8EB-01E398B539BE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FAEF1-F52F-E542-8DA7-71CAC2ACF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24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W" dirty="0"/>
              <a:t>Good afternoon, professor Brandon and classmates. My name is Alex, today I’m going to share my final project results, which is about efficient vision transformer with decorrelated atttention head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21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start with our problem and the approach we took.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straightforward: Enhancing Vision Transformer Performance. Our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was to improve model performance by penalizing similar output vectors of individual attention heads.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involved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Regularization and Decoupling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Method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was introducing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Diversity Loss (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​)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term to the total loss function :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Ltotal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Lclassification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​+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λ⋅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applied this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 in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defrozen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layers while fine-tuning a pretrained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model.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01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illustrates the computational flow and the formula for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Process: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stack the output vectors zi​ from all n attention heads into a matrix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228600" indent="-228600">
              <a:buAutoNum type="arabicPeriod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We then compute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Cosine Similarity Matrix 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Sn×n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​) of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pPr marL="228600" indent="-228600">
              <a:buAutoNum type="arabicPeriod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Loss Formula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​=∣∣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(S−I)∣∣F2​.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Function: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 S−I serves 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 Self Similarity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* The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function is applied element-wise 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 on positive 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similarity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compute the Frobenius norm squared, which penalizes high positive correlation, pushing the attention heads toward statistical independence.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68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first experiment was on the standard CIFAR-10 dataset.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we used a pretrained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model started with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High-Baseline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making improvement difficult.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table: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The Baseline model (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λ=0,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Defreeze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Layer 1) achieved an accuracy of 95.95%. * Our best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ViT-DeCV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(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λ=0.1)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reached 96.85%.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maximum improvement was only 0.9%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small gain initially suggested that the diversity loss might have limited efficacy for well-performing models.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68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learning curve explains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improvement on CIFAR-10 was so small.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graph shows the training curves for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model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where 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λ=0.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green line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representing the Decorrelation Loss. Even though 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λ=0 (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explicit penalty),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Decorrelation loss decreases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throughout training.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Insight: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This demonstrates that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inherently learns a degree of attention head diversity during standard classification training. Therefore, adding an extra statistical penalty yielded very limited marginal benefit.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39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 the limitations on CIFAR-10, we shifted to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complex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CIFAR-100 dataset.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experiment, we trained with different hyper-parameters and seeds, calculating the average accuracy and its standard deviation.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table shows a significant result: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The Baseline model (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λ=0)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achieved 83.75% accuracy, but with a standard deviation of 0.06. * Our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ViT-DeCV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improved accuracy to 86.63% , which is nearly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3% improvement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* Crucially, the standard deviation dropped drastically to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0.001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 not only provided a substantial accuracy boost on a more complex task, but it also helped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establish stability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training accuracy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31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we tested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 on the Waterbirds dataset, a binary classification task notorious for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scene-based bias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used ViT-B-32 as our pretrained model.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The Baseline Full Accuracy was 82.08%. * Applying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 (</a:t>
            </a:r>
            <a:r>
              <a:rPr lang="el-G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λ=0.1)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raised the Full Accuracy to 83.62%, an improvement of 1.54%.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looked at robustness metrics. For instance, the (0,1) accuracy (Landbird on Water) increased from 70.17% to 73.61%.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 provided a slight increase in robustness, but the improvement was marginal.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14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we directly compare the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 strategy with our second strategy: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User-Guided Ablation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used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 on ViT-B-32 and user-guided ablation on ViT-L-14 with CLIP. Both methods aim to solve the scene-based bias of Waterbirds.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difference between these two models is ViT-L-14 is a more complex model, with deeper structure and larger scale, aiming to learn complex features.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Looking at the table: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 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 Regularization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provided an improvement of +1.54%. *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User-Guided Ablation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achieved a massive improvement of +9.96%.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Strong Contrast: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Ablation strategy achieved a six-fold greater improvement in robustness over the baseline (note: Ablation baseline was 73.49%), clearly showing the superior effect of a semantic intervention.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5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why was the ablation strategy so dramatically effective?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applied attention head ablation based on the 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TextSpan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each head using CLIP.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TextSpan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provides a text description of what the attention head learns.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allowed us to manually select and ablate heads correlated with irrelevant or spurious features.</a:t>
            </a:r>
          </a:p>
          <a:p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example: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Layer 18, Head 7 had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TextSpan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'Reflective pond scene'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This was clearly related to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.* We also removed Head 8, which was related to a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'location / scene'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eliminating these heads tied to spurious correlations, we forced the model to rely only on the bird features, leading to the substantial robustness gain.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546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summarize our key insights and conclusions.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 </a:t>
            </a:r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 limitation: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Statistical Diversity Loss provides limited gain for already well-performing, pretrained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models like CIFAR-10. This is due to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ViT's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Natural Diversity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 Value: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However,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 effectively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stabilized training accuracy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the more complex CIFAR-100 task. *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Effective Strategy: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most significant performance increase came from the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semantic-driven intervention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(User-Guided Ablation). *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key to optimizing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performance lies in 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 and controlling the semantic roles of attention heads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rather than solely enforcing their statistical independence.</a:t>
            </a:r>
          </a:p>
          <a:p>
            <a:br>
              <a:rPr lang="en-US" dirty="0"/>
            </a:br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44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quickly summarize our findings across all datasets: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1.  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 on CIFAR10 has limited impact on high-baseline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2.  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Ldiv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 stabilized training accuracy in CIFAR100. 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User-Guided Ablation achieved significant, semantic-driven robustness improvement with the scene-based bias dataset.</a:t>
            </a:r>
          </a:p>
          <a:p>
            <a:br>
              <a:rPr lang="en-US" dirty="0"/>
            </a:br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83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78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for your time. I am now open to questions.</a:t>
            </a:r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FAEF1-F52F-E542-8DA7-71CAC2ACFC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1F93B-DB02-C446-8690-3214B4B0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7248" y="1137766"/>
            <a:ext cx="8227322" cy="342471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018FA-5D66-D744-BAB9-06E8BA778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248" y="4589463"/>
            <a:ext cx="8229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DBDA1-151A-8E43-830C-8668A317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27248" y="6291072"/>
            <a:ext cx="1600200" cy="365125"/>
          </a:xfrm>
        </p:spPr>
        <p:txBody>
          <a:bodyPr/>
          <a:lstStyle/>
          <a:p>
            <a:r>
              <a:rPr lang="en-US"/>
              <a:t>May 18, 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17458-726B-3D43-ACE8-84C3DD85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7448" y="6291072"/>
            <a:ext cx="66294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39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D7F4F-B240-454D-87C8-814B5B808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DC0B7-E2D6-154D-89EB-AD6CB902B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31FC4-27E8-4645-9E46-DDC7A265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May 18, 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B3EE6-A6CD-804E-B864-E148529E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90985-27CB-9744-9671-1589C667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AC90C774-BBF7-5144-A698-FF6961B010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161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99E5C-A647-0145-812B-785C5BA22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D60DD-E674-AB44-81E9-8B98C9AE0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233F4-29DD-E347-83FE-3C3918A62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9AFC2-F4DF-5E4B-AB58-A15BBDF072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7C443-0801-D04A-8917-389EAA84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A884F-A313-3146-B2A8-73A4C53A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497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1FA78-1BA5-C34A-A4EA-2466E09C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D65B6-2A84-434A-9DEA-F7A0CFC5E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BFE49-5351-344B-8F76-8228DD332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6E0A2E-48BF-3043-8963-D17553463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49585-F2FB-3A43-B859-72E653BDE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93E791-A288-514A-8A08-FBC4D910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124217-70AC-E64D-904C-437EEC12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FE63D2-2A32-DE49-8C63-DFC6A84E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09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855E-97E5-6C40-82E2-687DD7F0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55E08-5F80-5D48-A04F-AE508874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706D6-7B69-0E44-A5B5-D184431F3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8AB149-3631-2B47-947D-F0DDF067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0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2828F3-A29B-E34A-AC4D-D1978855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55D0D-0ECF-AA47-B8C8-DF72D013E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B03C7-FB0A-ED4A-AD17-13B47DE6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38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6FC6-D7BF-1743-BD1A-F3EC11A81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AE8C8-89A1-0441-BFD4-0638CF9A0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5D9E3-0E82-DB44-B17B-E2D161B20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0E096-15BE-974A-951C-0E9FC7594A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7BEA8-DF66-F044-93D3-A705BE7D5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EC754-9A27-7640-99CF-154F9AFA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36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1194-46A6-0E41-9068-276E5BE7F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CCFC89-9BF5-C44A-B1D3-277F475D65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64BD2-722C-EE44-8E72-F70CA36A1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EDE30-78D7-EC4D-9A6D-06C6043745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03251-C6CE-6A45-A640-21EC83266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16348-546B-384D-AB7B-F56B6E0A0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34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8E88-66D9-E544-AEB1-AAA595D1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90E00-95CE-7746-9209-5F4A0D80C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00F3B-BC83-3643-9793-C0C3B6996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0B40F-B518-F24E-9017-DB3FD435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37665-54D6-3249-953C-B4D575111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48009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15701C-5533-364D-AEAC-2BC96687E6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5A535-0A72-7540-935E-64AFA50B8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74679-918A-B247-9B5C-3E7883ED7F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240"/>
            <a:ext cx="1600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3CBB2-E013-1142-B0B3-7D11195D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624" y="6181344"/>
            <a:ext cx="41148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FCAA8-AEE2-3D43-8B59-87BE82DFC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9184" y="6492240"/>
            <a:ext cx="457200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98428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C90CA-2550-334F-B142-874B3D476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55F25-558A-D040-9191-8A2A1B566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E04F7-1BCC-0E4E-BC21-6C3D87918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224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May 18, 2020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50F39-9994-C944-90B6-11AF51D61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49624" y="61813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29DC8-7B81-7D42-BBC6-F8FBD5477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9184" y="6492240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BF9F4468-6E2D-EE46-9FD2-583B033C11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34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FC45-4DF2-B948-8B03-548DDF307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818" y="1143000"/>
            <a:ext cx="8225631" cy="341947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Vision Transformer with Decorrelated Attention Head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DD6F8-8954-C94C-8BE9-C27FABE1F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Alex (Yu-Hung) Kung</a:t>
            </a:r>
          </a:p>
        </p:txBody>
      </p:sp>
    </p:spTree>
    <p:extLst>
      <p:ext uri="{BB962C8B-B14F-4D97-AF65-F5344CB8AC3E}">
        <p14:creationId xmlns:p14="http://schemas.microsoft.com/office/powerpoint/2010/main" val="3369305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E44EF-948F-45B1-5464-3E4672523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Problem and Approach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D6E92B-B785-E0CA-E443-315930FF32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Problem: Enhancing Vision Transformer Performance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Goal: Improve model performance by penalizing similar output of individual attention heads</a:t>
                </a:r>
              </a:p>
              <a:p>
                <a:pPr>
                  <a:lnSpc>
                    <a:spcPct val="150000"/>
                  </a:lnSpc>
                </a:pPr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Approach: Regularization and Decoupling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Method: Introduce Diversity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i="1"/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TW" i="1"/>
                          <m:t>𝐿</m:t>
                        </m:r>
                      </m:e>
                      <m:sub>
                        <m:r>
                          <a:rPr lang="en-TW" i="1"/>
                          <m:t>𝑑𝑖𝑣</m:t>
                        </m:r>
                      </m:sub>
                    </m:sSub>
                  </m:oMath>
                </a14:m>
                <a:r>
                  <a:rPr lang="en-TW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term to the total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i="1"/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TW" i="1"/>
                          <m:t>𝐿</m:t>
                        </m:r>
                      </m:e>
                      <m:sub>
                        <m:r>
                          <a:rPr lang="en-TW" i="1"/>
                          <m:t>𝑡𝑜𝑡𝑎𝑙</m:t>
                        </m:r>
                      </m:sub>
                    </m:sSub>
                  </m:oMath>
                </a14:m>
                <a:r>
                  <a:rPr lang="en-TW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lvl="2"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TW" sz="2500" i="1"/>
                        </m:ctrlPr>
                      </m:sSubPr>
                      <m:e>
                        <m:r>
                          <a:rPr lang="en-TW" sz="2500" i="1"/>
                          <m:t>𝐿</m:t>
                        </m:r>
                      </m:e>
                      <m:sub>
                        <m:r>
                          <a:rPr lang="en-TW" sz="2500" i="1"/>
                          <m:t>𝑡𝑜𝑡𝑎𝑙</m:t>
                        </m:r>
                      </m:sub>
                    </m:sSub>
                    <m:r>
                      <a:rPr lang="en-TW" sz="2500" i="1"/>
                      <m:t> = </m:t>
                    </m:r>
                    <m:sSub>
                      <m:sSubPr>
                        <m:ctrlPr>
                          <a:rPr lang="en-TW" sz="2500" i="1"/>
                        </m:ctrlPr>
                      </m:sSubPr>
                      <m:e>
                        <m:r>
                          <a:rPr lang="en-TW" sz="2500" i="1"/>
                          <m:t>𝐿</m:t>
                        </m:r>
                      </m:e>
                      <m:sub>
                        <m:r>
                          <a:rPr lang="en-TW" sz="2500" i="1"/>
                          <m:t>𝑐𝑙𝑎𝑠𝑠𝑖𝑓𝑖𝑐𝑎𝑡𝑖𝑜𝑛</m:t>
                        </m:r>
                      </m:sub>
                    </m:sSub>
                    <m:r>
                      <a:rPr lang="en-TW" sz="2500" i="1"/>
                      <m:t> + </m:t>
                    </m:r>
                    <m:r>
                      <a:rPr lang="en-TW" sz="2500" i="1"/>
                      <m:t>𝜆</m:t>
                    </m:r>
                    <m:r>
                      <a:rPr lang="en-TW" sz="2500" i="1"/>
                      <m:t>⋅</m:t>
                    </m:r>
                    <m:sSub>
                      <m:sSubPr>
                        <m:ctrlPr>
                          <a:rPr lang="en-TW" sz="2500" i="1"/>
                        </m:ctrlPr>
                      </m:sSubPr>
                      <m:e>
                        <m:r>
                          <a:rPr lang="en-TW" sz="2500" i="1"/>
                          <m:t>𝐿</m:t>
                        </m:r>
                      </m:e>
                      <m:sub>
                        <m:r>
                          <a:rPr lang="en-TW" sz="2500" i="1"/>
                          <m:t>𝑑𝑖𝑣</m:t>
                        </m:r>
                      </m:sub>
                    </m:sSub>
                  </m:oMath>
                </a14:m>
                <a:endParaRPr lang="en-TW" sz="2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10000"/>
                  </a:lnSpc>
                </a:pPr>
                <a:r>
                  <a:rPr lang="en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2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sz="2800" i="1"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  <m:r>
                      <a:rPr lang="en-TW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TW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defreeze layers</a:t>
                </a:r>
              </a:p>
              <a:p>
                <a:pPr>
                  <a:lnSpc>
                    <a:spcPct val="150000"/>
                  </a:lnSpc>
                </a:pPr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 model: Fine-tune a pretrained ViT model</a:t>
                </a:r>
              </a:p>
              <a:p>
                <a:pPr lvl="2"/>
                <a:endParaRPr lang="en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D6E92B-B785-E0CA-E443-315930FF32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b="-1163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61F06-4414-2B73-5C0C-DDD8BD45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0C774-BBF7-5144-A698-FF6961B0109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031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DEC4D-0B11-6132-9D15-3F8B7354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Diversity Loss Calculation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14819-DA4F-42E9-C839-AED517E1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0C774-BBF7-5144-A698-FF6961B0109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image2.jpg">
            <a:extLst>
              <a:ext uri="{FF2B5EF4-FFF2-40B4-BE49-F238E27FC236}">
                <a16:creationId xmlns:a16="http://schemas.microsoft.com/office/drawing/2014/main" id="{65C0F609-78A0-269B-B4A8-6D2A84DE2BA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rcRect t="18617" b="29510"/>
          <a:stretch>
            <a:fillRect/>
          </a:stretch>
        </p:blipFill>
        <p:spPr>
          <a:xfrm>
            <a:off x="838200" y="1474437"/>
            <a:ext cx="10515600" cy="3068300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CBB33C-713F-9D16-E0F8-19F162244F79}"/>
                  </a:ext>
                </a:extLst>
              </p:cNvPr>
              <p:cNvSpPr txBox="1"/>
              <p:nvPr/>
            </p:nvSpPr>
            <p:spPr>
              <a:xfrm>
                <a:off x="1655379" y="4869229"/>
                <a:ext cx="8881242" cy="1368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Diversity Loss 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sz="2400" i="1" smtClean="0"/>
                        </m:ctrlPr>
                      </m:sSubPr>
                      <m:e>
                        <m:r>
                          <a:rPr lang="en-TW" sz="2400" i="1"/>
                          <m:t>𝐿</m:t>
                        </m:r>
                      </m:e>
                      <m:sub>
                        <m:r>
                          <a:rPr lang="en-TW" sz="2400" i="1"/>
                          <m:t>𝑑𝑖𝑣</m:t>
                        </m:r>
                      </m:sub>
                    </m:sSub>
                    <m:r>
                      <a:rPr lang="en-TW" sz="2400" i="1"/>
                      <m:t>=</m:t>
                    </m:r>
                    <m:sSubSup>
                      <m:sSubSupPr>
                        <m:ctrlPr>
                          <a:rPr lang="en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TW" sz="2400" i="1">
                                    <a:latin typeface="Cambria Math" panose="02040503050406030204" pitchFamily="18" charset="0"/>
                                  </a:rPr>
                                  <m:t>𝑅𝑒𝐿𝑈</m:t>
                                </m:r>
                                <m:r>
                                  <a:rPr lang="en-TW" sz="2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TW" sz="24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TW" sz="2400" i="1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TW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TW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TW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TW" sz="2400" i="1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TW" sz="240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Reduce Self Similarity</a:t>
                </a:r>
              </a:p>
              <a:p>
                <a:r>
                  <a:rPr lang="en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ReLU: Focus on positive similarity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CBB33C-713F-9D16-E0F8-19F162244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379" y="4869229"/>
                <a:ext cx="8881242" cy="1368901"/>
              </a:xfrm>
              <a:prstGeom prst="rect">
                <a:avLst/>
              </a:prstGeom>
              <a:blipFill>
                <a:blip r:embed="rId4"/>
                <a:stretch>
                  <a:fillRect l="-1143" b="-9174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7228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FB0048-0608-673C-C2B4-8E6F36929F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5155" y="552906"/>
                <a:ext cx="5165936" cy="1674904"/>
              </a:xfrm>
            </p:spPr>
            <p:txBody>
              <a:bodyPr anchor="ctr">
                <a:normAutofit/>
              </a:bodyPr>
              <a:lstStyle/>
              <a:p>
                <a:r>
                  <a:rPr lang="en-TW" sz="3700" dirty="0"/>
                  <a:t>Result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sz="3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37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sz="3700" i="1"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  <m:r>
                      <a:rPr lang="en-TW" sz="37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TW" sz="3700" dirty="0"/>
                  <a:t>Limitation on CIFAR10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FB0048-0608-673C-C2B4-8E6F36929F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5155" y="552906"/>
                <a:ext cx="5165936" cy="1674904"/>
              </a:xfrm>
              <a:blipFill>
                <a:blip r:embed="rId3"/>
                <a:stretch>
                  <a:fillRect l="-3676" r="-490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D7827-72C9-797C-0315-7F44A2CD0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r>
              <a:rPr lang="en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CIFAR10</a:t>
            </a:r>
          </a:p>
          <a:p>
            <a:r>
              <a:rPr lang="en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model: ViT (google/vit-base-patch16-224-in21k)</a:t>
            </a:r>
          </a:p>
          <a:p>
            <a:r>
              <a:rPr lang="en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High-Baseline, difficult to make improvement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E156D-0619-0090-0A94-B472D5164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C90C774-BBF7-5144-A698-FF6961B01098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A0D968F-4DBD-744A-7927-CF4B752E51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924297"/>
                  </p:ext>
                </p:extLst>
              </p:nvPr>
            </p:nvGraphicFramePr>
            <p:xfrm>
              <a:off x="835166" y="2620606"/>
              <a:ext cx="10515572" cy="3468482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{5C22544A-7EE6-4342-B048-85BDC9FD1C3A}</a:tableStyleId>
                  </a:tblPr>
                  <a:tblGrid>
                    <a:gridCol w="1603098">
                      <a:extLst>
                        <a:ext uri="{9D8B030D-6E8A-4147-A177-3AD203B41FA5}">
                          <a16:colId xmlns:a16="http://schemas.microsoft.com/office/drawing/2014/main" val="699507675"/>
                        </a:ext>
                      </a:extLst>
                    </a:gridCol>
                    <a:gridCol w="2311494">
                      <a:extLst>
                        <a:ext uri="{9D8B030D-6E8A-4147-A177-3AD203B41FA5}">
                          <a16:colId xmlns:a16="http://schemas.microsoft.com/office/drawing/2014/main" val="1569242005"/>
                        </a:ext>
                      </a:extLst>
                    </a:gridCol>
                    <a:gridCol w="853703">
                      <a:extLst>
                        <a:ext uri="{9D8B030D-6E8A-4147-A177-3AD203B41FA5}">
                          <a16:colId xmlns:a16="http://schemas.microsoft.com/office/drawing/2014/main" val="2659606017"/>
                        </a:ext>
                      </a:extLst>
                    </a:gridCol>
                    <a:gridCol w="1277373">
                      <a:extLst>
                        <a:ext uri="{9D8B030D-6E8A-4147-A177-3AD203B41FA5}">
                          <a16:colId xmlns:a16="http://schemas.microsoft.com/office/drawing/2014/main" val="1172008820"/>
                        </a:ext>
                      </a:extLst>
                    </a:gridCol>
                    <a:gridCol w="1277373">
                      <a:extLst>
                        <a:ext uri="{9D8B030D-6E8A-4147-A177-3AD203B41FA5}">
                          <a16:colId xmlns:a16="http://schemas.microsoft.com/office/drawing/2014/main" val="2379286373"/>
                        </a:ext>
                      </a:extLst>
                    </a:gridCol>
                    <a:gridCol w="1546154">
                      <a:extLst>
                        <a:ext uri="{9D8B030D-6E8A-4147-A177-3AD203B41FA5}">
                          <a16:colId xmlns:a16="http://schemas.microsoft.com/office/drawing/2014/main" val="1912194065"/>
                        </a:ext>
                      </a:extLst>
                    </a:gridCol>
                    <a:gridCol w="1646377">
                      <a:extLst>
                        <a:ext uri="{9D8B030D-6E8A-4147-A177-3AD203B41FA5}">
                          <a16:colId xmlns:a16="http://schemas.microsoft.com/office/drawing/2014/main" val="1143804057"/>
                        </a:ext>
                      </a:extLst>
                    </a:gridCol>
                  </a:tblGrid>
                  <a:tr h="97534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Model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Defreeze Layer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TW" sz="2000" b="1" smtClean="0">
                                    <a:solidFill>
                                      <a:srgbClr val="FFFFFF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Epoch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Train Loss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Val Loss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Accuracy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0211347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Baseline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8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0.019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0.1537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95.95%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0235110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MyModel 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6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0.021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0.1504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rgbClr val="FF0000"/>
                              </a:solidFill>
                              <a:effectLst/>
                            </a:rPr>
                            <a:t>96.85%</a:t>
                          </a:r>
                          <a:endParaRPr lang="en-TW" sz="2000">
                            <a:solidFill>
                              <a:srgbClr val="FF0000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1541781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Baseline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2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0.031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0.1716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96.35%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284317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MyModel 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2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0.0751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0.1957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accent1"/>
                              </a:solidFill>
                              <a:effectLst/>
                            </a:rPr>
                            <a:t>95.70%</a:t>
                          </a:r>
                          <a:endParaRPr lang="en-TW" sz="2000">
                            <a:solidFill>
                              <a:schemeClr val="accent1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2035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A0D968F-4DBD-744A-7927-CF4B752E51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924297"/>
                  </p:ext>
                </p:extLst>
              </p:nvPr>
            </p:nvGraphicFramePr>
            <p:xfrm>
              <a:off x="835166" y="2620606"/>
              <a:ext cx="10515572" cy="3468482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{5C22544A-7EE6-4342-B048-85BDC9FD1C3A}</a:tableStyleId>
                  </a:tblPr>
                  <a:tblGrid>
                    <a:gridCol w="1603098">
                      <a:extLst>
                        <a:ext uri="{9D8B030D-6E8A-4147-A177-3AD203B41FA5}">
                          <a16:colId xmlns:a16="http://schemas.microsoft.com/office/drawing/2014/main" val="699507675"/>
                        </a:ext>
                      </a:extLst>
                    </a:gridCol>
                    <a:gridCol w="2311494">
                      <a:extLst>
                        <a:ext uri="{9D8B030D-6E8A-4147-A177-3AD203B41FA5}">
                          <a16:colId xmlns:a16="http://schemas.microsoft.com/office/drawing/2014/main" val="1569242005"/>
                        </a:ext>
                      </a:extLst>
                    </a:gridCol>
                    <a:gridCol w="853703">
                      <a:extLst>
                        <a:ext uri="{9D8B030D-6E8A-4147-A177-3AD203B41FA5}">
                          <a16:colId xmlns:a16="http://schemas.microsoft.com/office/drawing/2014/main" val="2659606017"/>
                        </a:ext>
                      </a:extLst>
                    </a:gridCol>
                    <a:gridCol w="1277373">
                      <a:extLst>
                        <a:ext uri="{9D8B030D-6E8A-4147-A177-3AD203B41FA5}">
                          <a16:colId xmlns:a16="http://schemas.microsoft.com/office/drawing/2014/main" val="1172008820"/>
                        </a:ext>
                      </a:extLst>
                    </a:gridCol>
                    <a:gridCol w="1277373">
                      <a:extLst>
                        <a:ext uri="{9D8B030D-6E8A-4147-A177-3AD203B41FA5}">
                          <a16:colId xmlns:a16="http://schemas.microsoft.com/office/drawing/2014/main" val="2379286373"/>
                        </a:ext>
                      </a:extLst>
                    </a:gridCol>
                    <a:gridCol w="1546154">
                      <a:extLst>
                        <a:ext uri="{9D8B030D-6E8A-4147-A177-3AD203B41FA5}">
                          <a16:colId xmlns:a16="http://schemas.microsoft.com/office/drawing/2014/main" val="1912194065"/>
                        </a:ext>
                      </a:extLst>
                    </a:gridCol>
                    <a:gridCol w="1646377">
                      <a:extLst>
                        <a:ext uri="{9D8B030D-6E8A-4147-A177-3AD203B41FA5}">
                          <a16:colId xmlns:a16="http://schemas.microsoft.com/office/drawing/2014/main" val="1143804057"/>
                        </a:ext>
                      </a:extLst>
                    </a:gridCol>
                  </a:tblGrid>
                  <a:tr h="97534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Model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Defreeze Layer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TW"/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4"/>
                          <a:stretch>
                            <a:fillRect l="-461194" t="-1299" r="-679104" b="-2597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Epoch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Train Loss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Val Loss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 b="1">
                              <a:solidFill>
                                <a:srgbClr val="FFFFFF"/>
                              </a:solidFill>
                              <a:effectLst/>
                            </a:rPr>
                            <a:t>Accuracy</a:t>
                          </a:r>
                          <a:endParaRPr lang="en-TW" sz="2000" b="1">
                            <a:solidFill>
                              <a:srgbClr val="FFFFFF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ap="flat" cmpd="sng" algn="ctr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636B68">
                            <a:alpha val="6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0211347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Baseline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8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0.019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0.1537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95.95%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0235110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MyModel 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6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0.021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0.1504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rgbClr val="FF0000"/>
                              </a:solidFill>
                              <a:effectLst/>
                            </a:rPr>
                            <a:t>96.85%</a:t>
                          </a:r>
                          <a:endParaRPr lang="en-TW" sz="2000">
                            <a:solidFill>
                              <a:srgbClr val="FF0000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1541781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Baseline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2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0.031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0.1716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96.35%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284317"/>
                      </a:ext>
                    </a:extLst>
                  </a:tr>
                  <a:tr h="6232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MyModel 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>
                        <a:lnL w="38100" cap="flat" cmpd="sng" algn="ctr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2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0.0751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effectLst/>
                            </a:rPr>
                            <a:t>0.1957</a:t>
                          </a:r>
                          <a:endParaRPr lang="en-TW" sz="200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TW" sz="2000">
                              <a:solidFill>
                                <a:schemeClr val="accent1"/>
                              </a:solidFill>
                              <a:effectLst/>
                            </a:rPr>
                            <a:t>95.70%</a:t>
                          </a:r>
                          <a:endParaRPr lang="en-TW" sz="2000">
                            <a:solidFill>
                              <a:schemeClr val="accent1"/>
                            </a:solidFill>
                            <a:effectLst/>
                            <a:latin typeface="Arial" panose="020B0604020202020204" pitchFamily="34" charset="0"/>
                            <a:ea typeface="Arial" panose="020B0604020202020204" pitchFamily="34" charset="0"/>
                          </a:endParaRPr>
                        </a:p>
                      </a:txBody>
                      <a:tcPr marL="207269" marR="124361" marT="124361" marB="124361" anchor="b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14902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20351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18403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066377-2567-C471-4E7D-D86381D21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 1: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ViT’s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Natural Diversity </a:t>
            </a:r>
          </a:p>
        </p:txBody>
      </p:sp>
      <p:pic>
        <p:nvPicPr>
          <p:cNvPr id="5" name="image3.png">
            <a:extLst>
              <a:ext uri="{FF2B5EF4-FFF2-40B4-BE49-F238E27FC236}">
                <a16:creationId xmlns:a16="http://schemas.microsoft.com/office/drawing/2014/main" id="{8ABE045D-29AD-6706-925D-97199009D3B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rcRect t="7080" r="-2" b="9900"/>
          <a:stretch>
            <a:fillRect/>
          </a:stretch>
        </p:blipFill>
        <p:spPr>
          <a:xfrm>
            <a:off x="99958" y="1963375"/>
            <a:ext cx="5803323" cy="3890357"/>
          </a:xfrm>
          <a:prstGeom prst="rect">
            <a:avLst/>
          </a:prstGeom>
        </p:spPr>
      </p:pic>
      <p:pic>
        <p:nvPicPr>
          <p:cNvPr id="6" name="image1.png">
            <a:extLst>
              <a:ext uri="{FF2B5EF4-FFF2-40B4-BE49-F238E27FC236}">
                <a16:creationId xmlns:a16="http://schemas.microsoft.com/office/drawing/2014/main" id="{2F275431-B487-F381-CA22-88F083AA4019}"/>
              </a:ext>
            </a:extLst>
          </p:cNvPr>
          <p:cNvPicPr/>
          <p:nvPr/>
        </p:nvPicPr>
        <p:blipFill>
          <a:blip r:embed="rId4"/>
          <a:srcRect t="8144" r="-2" b="7796"/>
          <a:stretch>
            <a:fillRect/>
          </a:stretch>
        </p:blipFill>
        <p:spPr>
          <a:xfrm>
            <a:off x="6091151" y="1963375"/>
            <a:ext cx="5803323" cy="389035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57085-308D-4B8E-E594-A4351F72F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C90C774-BBF7-5144-A698-FF6961B01098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028903-A571-4290-87D3-383C77DDECF5}"/>
                  </a:ext>
                </a:extLst>
              </p:cNvPr>
              <p:cNvSpPr txBox="1"/>
              <p:nvPr/>
            </p:nvSpPr>
            <p:spPr>
              <a:xfrm>
                <a:off x="3894491" y="5987018"/>
                <a:ext cx="43933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W" dirty="0"/>
                  <a:t>Decorrelation loss decreases when </a:t>
                </a:r>
                <a14:m>
                  <m:oMath xmlns:m="http://schemas.openxmlformats.org/officeDocument/2006/math">
                    <m:r>
                      <a:rPr lang="en-TW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TW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028903-A571-4290-87D3-383C77DDE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491" y="5987018"/>
                <a:ext cx="4393319" cy="369332"/>
              </a:xfrm>
              <a:prstGeom prst="rect">
                <a:avLst/>
              </a:prstGeom>
              <a:blipFill>
                <a:blip r:embed="rId5"/>
                <a:stretch>
                  <a:fillRect l="-1153" t="-6667" b="-26667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5832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09DE9B-F372-D39A-24E7-4A5909A837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04410" y="1105288"/>
                <a:ext cx="4104861" cy="1398867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sz="320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  <m:r>
                      <a:rPr lang="en-US" sz="3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establish stability on CIFAR100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09DE9B-F372-D39A-24E7-4A5909A837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04410" y="1105288"/>
                <a:ext cx="4104861" cy="1398867"/>
              </a:xfrm>
              <a:blipFill>
                <a:blip r:embed="rId3"/>
                <a:stretch>
                  <a:fillRect l="-3704" t="-8929" r="-2469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F5FA9AD-8EDD-33BE-B795-2E861BA3B45D}"/>
              </a:ext>
            </a:extLst>
          </p:cNvPr>
          <p:cNvSpPr txBox="1">
            <a:spLocks/>
          </p:cNvSpPr>
          <p:nvPr/>
        </p:nvSpPr>
        <p:spPr>
          <a:xfrm>
            <a:off x="5341546" y="751555"/>
            <a:ext cx="5946040" cy="245152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CIFAR100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(google/vit-base-patch16-224-in21k)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with different number of parameters, hyper-parameters, seeds, and calculate the average accuracy and its standard deviation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Nearly 3% improvement on accuracy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standard deviation, establish stability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87DBA-4D21-771E-1FF8-B70A5C72F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C90C774-BBF7-5144-A698-FF6961B01098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4A41B9E-A0C8-F78B-E5B6-A0D02D881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27C9029-9BF9-D125-90D6-AB03931B0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CF84619-412D-A0C9-3DC9-47C3A42B9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AAB2F2D-B6A0-029E-2137-13F1631EC2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4689411"/>
              </p:ext>
            </p:extLst>
          </p:nvPr>
        </p:nvGraphicFramePr>
        <p:xfrm>
          <a:off x="904410" y="3421707"/>
          <a:ext cx="10383180" cy="2451529"/>
        </p:xfrm>
        <a:graphic>
          <a:graphicData uri="http://schemas.openxmlformats.org/drawingml/2006/table">
            <a:tbl>
              <a:tblPr firstRow="1" bandRow="1">
                <a:noFill/>
                <a:tableStyleId>{F5AB1C69-6EDB-4FF4-983F-18BD219EF322}</a:tableStyleId>
              </a:tblPr>
              <a:tblGrid>
                <a:gridCol w="1690076">
                  <a:extLst>
                    <a:ext uri="{9D8B030D-6E8A-4147-A177-3AD203B41FA5}">
                      <a16:colId xmlns:a16="http://schemas.microsoft.com/office/drawing/2014/main" val="606156816"/>
                    </a:ext>
                  </a:extLst>
                </a:gridCol>
                <a:gridCol w="1718632">
                  <a:extLst>
                    <a:ext uri="{9D8B030D-6E8A-4147-A177-3AD203B41FA5}">
                      <a16:colId xmlns:a16="http://schemas.microsoft.com/office/drawing/2014/main" val="3717503849"/>
                    </a:ext>
                  </a:extLst>
                </a:gridCol>
                <a:gridCol w="1630926">
                  <a:extLst>
                    <a:ext uri="{9D8B030D-6E8A-4147-A177-3AD203B41FA5}">
                      <a16:colId xmlns:a16="http://schemas.microsoft.com/office/drawing/2014/main" val="3612079404"/>
                    </a:ext>
                  </a:extLst>
                </a:gridCol>
                <a:gridCol w="1732910">
                  <a:extLst>
                    <a:ext uri="{9D8B030D-6E8A-4147-A177-3AD203B41FA5}">
                      <a16:colId xmlns:a16="http://schemas.microsoft.com/office/drawing/2014/main" val="1716849870"/>
                    </a:ext>
                  </a:extLst>
                </a:gridCol>
                <a:gridCol w="1804298">
                  <a:extLst>
                    <a:ext uri="{9D8B030D-6E8A-4147-A177-3AD203B41FA5}">
                      <a16:colId xmlns:a16="http://schemas.microsoft.com/office/drawing/2014/main" val="1188610180"/>
                    </a:ext>
                  </a:extLst>
                </a:gridCol>
                <a:gridCol w="1806338">
                  <a:extLst>
                    <a:ext uri="{9D8B030D-6E8A-4147-A177-3AD203B41FA5}">
                      <a16:colId xmlns:a16="http://schemas.microsoft.com/office/drawing/2014/main" val="2163680628"/>
                    </a:ext>
                  </a:extLst>
                </a:gridCol>
              </a:tblGrid>
              <a:tr h="1026039">
                <a:tc>
                  <a:txBody>
                    <a:bodyPr/>
                    <a:lstStyle/>
                    <a:p>
                      <a:pPr algn="ctr"/>
                      <a:r>
                        <a:rPr lang="en-TW" sz="2100" b="1" cap="none" spc="0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cap="none" spc="0" dirty="0">
                          <a:solidFill>
                            <a:srgbClr val="FFFFFF"/>
                          </a:solidFill>
                        </a:rPr>
                        <a:t>D</a:t>
                      </a:r>
                      <a:r>
                        <a:rPr lang="en-TW" sz="2100" b="1" cap="none" spc="0" dirty="0">
                          <a:solidFill>
                            <a:srgbClr val="FFFFFF"/>
                          </a:solidFill>
                        </a:rPr>
                        <a:t>efreeze layer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cap="none" spc="0" dirty="0">
                          <a:solidFill>
                            <a:srgbClr val="FFFFFF"/>
                          </a:solidFill>
                        </a:rPr>
                        <a:t>L</a:t>
                      </a:r>
                      <a:r>
                        <a:rPr lang="en-TW" sz="2100" b="1" cap="none" spc="0" dirty="0">
                          <a:solidFill>
                            <a:srgbClr val="FFFFFF"/>
                          </a:solidFill>
                        </a:rPr>
                        <a:t>ambda decorr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b="1" cap="none" spc="0" dirty="0">
                          <a:solidFill>
                            <a:srgbClr val="FFFFFF"/>
                          </a:solidFill>
                        </a:rPr>
                        <a:t>Learning rate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b="1" cap="none" spc="0" dirty="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b="1" cap="none" spc="0" dirty="0">
                          <a:solidFill>
                            <a:srgbClr val="FFFFFF"/>
                          </a:solidFill>
                        </a:rPr>
                        <a:t>Standard Deviation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232173"/>
                  </a:ext>
                </a:extLst>
              </a:tr>
              <a:tr h="712745"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Baseline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1e-4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83.75%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0.06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954668"/>
                  </a:ext>
                </a:extLst>
              </a:tr>
              <a:tr h="712745"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MyModel</a:t>
                      </a:r>
                    </a:p>
                  </a:txBody>
                  <a:tcPr marL="293713" marR="176228" marT="176228" marB="176228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1e-4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1e-4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 dirty="0">
                          <a:solidFill>
                            <a:srgbClr val="FF0000"/>
                          </a:solidFill>
                        </a:rPr>
                        <a:t>86.63%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2100" cap="none" spc="0" dirty="0">
                          <a:solidFill>
                            <a:srgbClr val="FF0000"/>
                          </a:solidFill>
                        </a:rPr>
                        <a:t>0.001</a:t>
                      </a:r>
                    </a:p>
                  </a:txBody>
                  <a:tcPr marL="293713" marR="176228" marT="176228" marB="176228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70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752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53A373-A72D-8C20-D85A-E93C6FFCA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1C35AC-CC23-6638-9888-904F7C252A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046746" y="586822"/>
                <a:ext cx="3560252" cy="1645920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r>
                  <a:rPr lang="en-US" sz="320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 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3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  <m:r>
                      <a:rPr lang="en-US" sz="3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Improvement on Waterbird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1C35AC-CC23-6638-9888-904F7C252A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46746" y="586822"/>
                <a:ext cx="3560252" cy="1645920"/>
              </a:xfrm>
              <a:blipFill>
                <a:blip r:embed="rId3"/>
                <a:stretch>
                  <a:fillRect l="-4270" t="-769" b="-4615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09D27C8-5367-77C7-3E3C-7D8D09428F8B}"/>
              </a:ext>
            </a:extLst>
          </p:cNvPr>
          <p:cNvSpPr txBox="1">
            <a:spLocks/>
          </p:cNvSpPr>
          <p:nvPr/>
        </p:nvSpPr>
        <p:spPr>
          <a:xfrm>
            <a:off x="5351164" y="586822"/>
            <a:ext cx="6002636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Waterbirds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model: ViT-B-32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Trainable parameters: ~7.5M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with different seeds, and calculate the average accuracy and its standard deviation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BF114-BE2B-B325-C415-41E83D9A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C90C774-BBF7-5144-A698-FF6961B01098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AEF92A0-202F-0DC7-E30C-F38F21EFE0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0797954"/>
              </p:ext>
            </p:extLst>
          </p:nvPr>
        </p:nvGraphicFramePr>
        <p:xfrm>
          <a:off x="513586" y="3978565"/>
          <a:ext cx="11164827" cy="2064645"/>
        </p:xfrm>
        <a:graphic>
          <a:graphicData uri="http://schemas.openxmlformats.org/drawingml/2006/table">
            <a:tbl>
              <a:tblPr firstRow="1" bandRow="1">
                <a:noFill/>
                <a:tableStyleId>{F5AB1C69-6EDB-4FF4-983F-18BD219EF322}</a:tableStyleId>
              </a:tblPr>
              <a:tblGrid>
                <a:gridCol w="1483428">
                  <a:extLst>
                    <a:ext uri="{9D8B030D-6E8A-4147-A177-3AD203B41FA5}">
                      <a16:colId xmlns:a16="http://schemas.microsoft.com/office/drawing/2014/main" val="606156816"/>
                    </a:ext>
                  </a:extLst>
                </a:gridCol>
                <a:gridCol w="1362387">
                  <a:extLst>
                    <a:ext uri="{9D8B030D-6E8A-4147-A177-3AD203B41FA5}">
                      <a16:colId xmlns:a16="http://schemas.microsoft.com/office/drawing/2014/main" val="3717503849"/>
                    </a:ext>
                  </a:extLst>
                </a:gridCol>
                <a:gridCol w="1295605">
                  <a:extLst>
                    <a:ext uri="{9D8B030D-6E8A-4147-A177-3AD203B41FA5}">
                      <a16:colId xmlns:a16="http://schemas.microsoft.com/office/drawing/2014/main" val="3612079404"/>
                    </a:ext>
                  </a:extLst>
                </a:gridCol>
                <a:gridCol w="1373517">
                  <a:extLst>
                    <a:ext uri="{9D8B030D-6E8A-4147-A177-3AD203B41FA5}">
                      <a16:colId xmlns:a16="http://schemas.microsoft.com/office/drawing/2014/main" val="1716849870"/>
                    </a:ext>
                  </a:extLst>
                </a:gridCol>
                <a:gridCol w="1395777">
                  <a:extLst>
                    <a:ext uri="{9D8B030D-6E8A-4147-A177-3AD203B41FA5}">
                      <a16:colId xmlns:a16="http://schemas.microsoft.com/office/drawing/2014/main" val="1891377886"/>
                    </a:ext>
                  </a:extLst>
                </a:gridCol>
                <a:gridCol w="1395777">
                  <a:extLst>
                    <a:ext uri="{9D8B030D-6E8A-4147-A177-3AD203B41FA5}">
                      <a16:colId xmlns:a16="http://schemas.microsoft.com/office/drawing/2014/main" val="3137409139"/>
                    </a:ext>
                  </a:extLst>
                </a:gridCol>
                <a:gridCol w="1429168">
                  <a:extLst>
                    <a:ext uri="{9D8B030D-6E8A-4147-A177-3AD203B41FA5}">
                      <a16:colId xmlns:a16="http://schemas.microsoft.com/office/drawing/2014/main" val="1188610180"/>
                    </a:ext>
                  </a:extLst>
                </a:gridCol>
                <a:gridCol w="1429168">
                  <a:extLst>
                    <a:ext uri="{9D8B030D-6E8A-4147-A177-3AD203B41FA5}">
                      <a16:colId xmlns:a16="http://schemas.microsoft.com/office/drawing/2014/main" val="2163680628"/>
                    </a:ext>
                  </a:extLst>
                </a:gridCol>
              </a:tblGrid>
              <a:tr h="821779">
                <a:tc>
                  <a:txBody>
                    <a:bodyPr/>
                    <a:lstStyle/>
                    <a:p>
                      <a:pPr algn="ctr"/>
                      <a:r>
                        <a:rPr lang="en-TW" sz="1600" b="1" cap="none" spc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cap="none" spc="0">
                          <a:solidFill>
                            <a:srgbClr val="FFFFFF"/>
                          </a:solidFill>
                        </a:rPr>
                        <a:t>D</a:t>
                      </a:r>
                      <a:r>
                        <a:rPr lang="en-TW" sz="1600" b="1" cap="none" spc="0">
                          <a:solidFill>
                            <a:srgbClr val="FFFFFF"/>
                          </a:solidFill>
                        </a:rPr>
                        <a:t>efreeze layer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cap="none" spc="0">
                          <a:solidFill>
                            <a:srgbClr val="FFFFFF"/>
                          </a:solidFill>
                        </a:rPr>
                        <a:t>L</a:t>
                      </a:r>
                      <a:r>
                        <a:rPr lang="en-TW" sz="1600" b="1" cap="none" spc="0">
                          <a:solidFill>
                            <a:srgbClr val="FFFFFF"/>
                          </a:solidFill>
                        </a:rPr>
                        <a:t>ambda decorr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600" b="1" cap="none" spc="0">
                          <a:solidFill>
                            <a:srgbClr val="FFFFFF"/>
                          </a:solidFill>
                        </a:rPr>
                        <a:t>Learning rate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600" b="1" cap="none" spc="0">
                          <a:solidFill>
                            <a:srgbClr val="FFFFFF"/>
                          </a:solidFill>
                        </a:rPr>
                        <a:t>(0, 1) accuracy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600" b="1" cap="none" spc="0">
                          <a:solidFill>
                            <a:srgbClr val="FFFFFF"/>
                          </a:solidFill>
                        </a:rPr>
                        <a:t>(1, 0) accuracy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600" b="1" cap="none" spc="0">
                          <a:solidFill>
                            <a:srgbClr val="FFFFFF"/>
                          </a:solidFill>
                        </a:rPr>
                        <a:t>Full Accuracy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600" b="1" cap="none" spc="0" dirty="0">
                          <a:solidFill>
                            <a:srgbClr val="FFFFFF"/>
                          </a:solidFill>
                        </a:rPr>
                        <a:t>Standard Deviation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232173"/>
                  </a:ext>
                </a:extLst>
              </a:tr>
              <a:tr h="621433">
                <a:tc>
                  <a:txBody>
                    <a:bodyPr/>
                    <a:lstStyle/>
                    <a:p>
                      <a:pPr algn="ctr"/>
                      <a:r>
                        <a:rPr lang="en-TW" sz="18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Baseline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8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8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8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1e-4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6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70.17%</a:t>
                      </a:r>
                      <a:endParaRPr lang="en-TW" sz="18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6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50.59%</a:t>
                      </a:r>
                      <a:endParaRPr lang="en-TW" sz="18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8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82.08%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8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0.0149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954668"/>
                  </a:ext>
                </a:extLst>
              </a:tr>
              <a:tr h="621433">
                <a:tc>
                  <a:txBody>
                    <a:bodyPr/>
                    <a:lstStyle/>
                    <a:p>
                      <a:pPr algn="ctr"/>
                      <a:r>
                        <a:rPr lang="en-TW" sz="18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MyModel</a:t>
                      </a:r>
                    </a:p>
                  </a:txBody>
                  <a:tcPr marL="257411" marR="154447" marT="154447" marB="154447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8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8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0.1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8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1e-4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6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73.61%</a:t>
                      </a:r>
                      <a:endParaRPr lang="en-TW" sz="1800" cap="none" spc="0" dirty="0">
                        <a:solidFill>
                          <a:srgbClr val="FF0000"/>
                        </a:solidFill>
                      </a:endParaRP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600" b="0" i="0" u="none" strike="noStrike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52.31%</a:t>
                      </a:r>
                      <a:endParaRPr lang="en-TW" sz="1800" cap="none" spc="0">
                        <a:solidFill>
                          <a:srgbClr val="FF0000"/>
                        </a:solidFill>
                      </a:endParaRP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800" cap="none" spc="0">
                          <a:solidFill>
                            <a:srgbClr val="FF0000"/>
                          </a:solidFill>
                        </a:rPr>
                        <a:t>83.62%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sz="1800" cap="none" spc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 marL="257411" marR="154447" marT="154447" marB="15444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7032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22CEBBF-6134-DD28-9F85-2F6E4D920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453" y="2545879"/>
            <a:ext cx="6855092" cy="12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94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11128-E85D-179D-D4B4-9C61DF290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Result 3: Waterbirds - Loss vs. Ablation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FDD63C-4A0C-512B-2C8C-91EEA18803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Waterbirds dataset is known for scene-base bias</a:t>
                </a:r>
              </a:p>
              <a:p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Fine-tune ViT-B-32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i="1"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</m:oMath>
                </a14:m>
                <a:endParaRPr lang="en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User-guided ablation with ViT-L-14 with CLIP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FDD63C-4A0C-512B-2C8C-91EEA18803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2FEF5-1FD3-5AFB-FAC0-33C52941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0C774-BBF7-5144-A698-FF6961B01098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DF8AD26-8A41-334F-F939-73A110731B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6409319"/>
                  </p:ext>
                </p:extLst>
              </p:nvPr>
            </p:nvGraphicFramePr>
            <p:xfrm>
              <a:off x="838200" y="3429000"/>
              <a:ext cx="10515600" cy="219994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003620126"/>
                        </a:ext>
                      </a:extLst>
                    </a:gridCol>
                    <a:gridCol w="1664970">
                      <a:extLst>
                        <a:ext uri="{9D8B030D-6E8A-4147-A177-3AD203B41FA5}">
                          <a16:colId xmlns:a16="http://schemas.microsoft.com/office/drawing/2014/main" val="4106941296"/>
                        </a:ext>
                      </a:extLst>
                    </a:gridCol>
                    <a:gridCol w="2903220">
                      <a:extLst>
                        <a:ext uri="{9D8B030D-6E8A-4147-A177-3AD203B41FA5}">
                          <a16:colId xmlns:a16="http://schemas.microsoft.com/office/drawing/2014/main" val="1457607580"/>
                        </a:ext>
                      </a:extLst>
                    </a:gridCol>
                    <a:gridCol w="3318510">
                      <a:extLst>
                        <a:ext uri="{9D8B030D-6E8A-4147-A177-3AD203B41FA5}">
                          <a16:colId xmlns:a16="http://schemas.microsoft.com/office/drawing/2014/main" val="3525584998"/>
                        </a:ext>
                      </a:extLst>
                    </a:gridCol>
                  </a:tblGrid>
                  <a:tr h="733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Strategy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Full Accuracy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Improvement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Analysis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031156"/>
                      </a:ext>
                    </a:extLst>
                  </a:tr>
                  <a:tr h="7333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TW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TW" sz="18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TW" sz="1800" i="1">
                                      <a:latin typeface="Cambria Math" panose="02040503050406030204" pitchFamily="18" charset="0"/>
                                    </a:rPr>
                                    <m:t>𝑑𝑖𝑣</m:t>
                                  </m:r>
                                </m:sub>
                              </m:sSub>
                            </m:oMath>
                          </a14:m>
                          <a:r>
                            <a:rPr lang="en-TW" dirty="0"/>
                            <a:t> Regularization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83.62%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+1.54%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Slightly increased robustness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19160347"/>
                      </a:ext>
                    </a:extLst>
                  </a:tr>
                  <a:tr h="733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user-guided ablation</a:t>
                          </a:r>
                          <a:endParaRPr lang="en-TW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83.45%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+9.96%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  <a:r>
                            <a:rPr lang="en-TW" dirty="0"/>
                            <a:t>ignificantly increased robustness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77014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ADF8AD26-8A41-334F-F939-73A110731B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6409319"/>
                  </p:ext>
                </p:extLst>
              </p:nvPr>
            </p:nvGraphicFramePr>
            <p:xfrm>
              <a:off x="838200" y="3429000"/>
              <a:ext cx="10515600" cy="219994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003620126"/>
                        </a:ext>
                      </a:extLst>
                    </a:gridCol>
                    <a:gridCol w="1664970">
                      <a:extLst>
                        <a:ext uri="{9D8B030D-6E8A-4147-A177-3AD203B41FA5}">
                          <a16:colId xmlns:a16="http://schemas.microsoft.com/office/drawing/2014/main" val="4106941296"/>
                        </a:ext>
                      </a:extLst>
                    </a:gridCol>
                    <a:gridCol w="2903220">
                      <a:extLst>
                        <a:ext uri="{9D8B030D-6E8A-4147-A177-3AD203B41FA5}">
                          <a16:colId xmlns:a16="http://schemas.microsoft.com/office/drawing/2014/main" val="1457607580"/>
                        </a:ext>
                      </a:extLst>
                    </a:gridCol>
                    <a:gridCol w="3318510">
                      <a:extLst>
                        <a:ext uri="{9D8B030D-6E8A-4147-A177-3AD203B41FA5}">
                          <a16:colId xmlns:a16="http://schemas.microsoft.com/office/drawing/2014/main" val="3525584998"/>
                        </a:ext>
                      </a:extLst>
                    </a:gridCol>
                  </a:tblGrid>
                  <a:tr h="733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Strategy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Full Accuracy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Improvement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Analysis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031156"/>
                      </a:ext>
                    </a:extLst>
                  </a:tr>
                  <a:tr h="733315">
                    <a:tc>
                      <a:txBody>
                        <a:bodyPr/>
                        <a:lstStyle/>
                        <a:p>
                          <a:endParaRPr lang="en-TW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83" t="-101724" r="-301449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83.62%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+1.54%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Slightly increased robustness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19160347"/>
                      </a:ext>
                    </a:extLst>
                  </a:tr>
                  <a:tr h="733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user-guided ablation</a:t>
                          </a:r>
                          <a:endParaRPr lang="en-TW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83.45%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TW" dirty="0"/>
                            <a:t>+9.96%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</a:t>
                          </a:r>
                          <a:r>
                            <a:rPr lang="en-TW" dirty="0"/>
                            <a:t>ignificantly increased robustness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770147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76872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96662-D17C-1648-50CC-3D872B783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Why ablation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E3680-CFB9-A407-8E5D-F58EAF743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Applied attention head ablation based on the TextSpan of each attention head using CLIP</a:t>
            </a:r>
          </a:p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TextSpan: Extract text description of each attention head, showing what the attention head learn</a:t>
            </a:r>
          </a:p>
          <a:p>
            <a:r>
              <a:rPr lang="en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and ablate heads correlated with irrelevant or spurious features</a:t>
            </a:r>
          </a:p>
          <a:p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9656C-3A9B-35A5-B72B-EE8B24827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0C774-BBF7-5144-A698-FF6961B01098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DFB6FA-3C37-7F95-639C-66498989C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153202"/>
              </p:ext>
            </p:extLst>
          </p:nvPr>
        </p:nvGraphicFramePr>
        <p:xfrm>
          <a:off x="1435100" y="4758008"/>
          <a:ext cx="9321799" cy="155389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4430">
                  <a:extLst>
                    <a:ext uri="{9D8B030D-6E8A-4147-A177-3AD203B41FA5}">
                      <a16:colId xmlns:a16="http://schemas.microsoft.com/office/drawing/2014/main" val="4207159460"/>
                    </a:ext>
                  </a:extLst>
                </a:gridCol>
                <a:gridCol w="1261483">
                  <a:extLst>
                    <a:ext uri="{9D8B030D-6E8A-4147-A177-3AD203B41FA5}">
                      <a16:colId xmlns:a16="http://schemas.microsoft.com/office/drawing/2014/main" val="4002043285"/>
                    </a:ext>
                  </a:extLst>
                </a:gridCol>
                <a:gridCol w="3176504">
                  <a:extLst>
                    <a:ext uri="{9D8B030D-6E8A-4147-A177-3AD203B41FA5}">
                      <a16:colId xmlns:a16="http://schemas.microsoft.com/office/drawing/2014/main" val="3356206137"/>
                    </a:ext>
                  </a:extLst>
                </a:gridCol>
                <a:gridCol w="3779382">
                  <a:extLst>
                    <a:ext uri="{9D8B030D-6E8A-4147-A177-3AD203B41FA5}">
                      <a16:colId xmlns:a16="http://schemas.microsoft.com/office/drawing/2014/main" val="2868845161"/>
                    </a:ext>
                  </a:extLst>
                </a:gridCol>
              </a:tblGrid>
              <a:tr h="517964"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TextSpan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Insight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44134"/>
                  </a:ext>
                </a:extLst>
              </a:tr>
              <a:tr h="517964"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Reflective pond scene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Related to the ‘scene’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05988"/>
                  </a:ext>
                </a:extLst>
              </a:tr>
              <a:tr h="517964"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An image of Andorra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TW" dirty="0"/>
                        <a:t>Related to ‘location / scene’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507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091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60C63-8D7A-235A-4228-E7109249E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TW" sz="5400" dirty="0"/>
              <a:t>Insights and Conclusion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7E5B09-E8B9-C9D4-D564-0DA7CA9D72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TW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22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TW" sz="2200" b="1" i="1">
                            <a:latin typeface="Cambria Math" panose="02040503050406030204" pitchFamily="18" charset="0"/>
                          </a:rPr>
                          <m:t>𝒅𝒊𝒗</m:t>
                        </m:r>
                      </m:sub>
                    </m:sSub>
                  </m:oMath>
                </a14:m>
                <a:r>
                  <a:rPr lang="en-TW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limitation</a:t>
                </a:r>
                <a:r>
                  <a:rPr lang="en-TW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Statistical Diversity Loss provides limited gain for already well-performing, pretrained ViT models (CIFAR10)</a:t>
                </a:r>
              </a:p>
              <a:p>
                <a:pPr>
                  <a:lnSpc>
                    <a:spcPct val="150000"/>
                  </a:lnSpc>
                </a:pPr>
                <a:r>
                  <a:rPr lang="en-TW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Natural Diversity</a:t>
                </a:r>
                <a:r>
                  <a:rPr lang="en-TW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ViT models appear to inherently learn a degree of attention head diversity during standard training</a:t>
                </a:r>
              </a:p>
              <a:p>
                <a:pPr>
                  <a:lnSpc>
                    <a:spcPct val="150000"/>
                  </a:lnSpc>
                </a:pPr>
                <a:r>
                  <a:rPr lang="en-TW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Effective Strategy</a:t>
                </a:r>
                <a:r>
                  <a:rPr lang="en-TW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most significant performance increase came from driven interveniton (User-Guided Ablation)</a:t>
                </a:r>
              </a:p>
              <a:p>
                <a:pPr>
                  <a:lnSpc>
                    <a:spcPct val="150000"/>
                  </a:lnSpc>
                </a:pPr>
                <a:r>
                  <a:rPr lang="en-TW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Conclusion</a:t>
                </a:r>
                <a:r>
                  <a:rPr lang="en-TW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key to optimizing ViT performance lies in understanding and controlling the semantic roles of atttention heads, rather than solely enforcing statistical independence of their output vectors.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7E5B09-E8B9-C9D4-D564-0DA7CA9D72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D4E8D-A7BF-2E99-678C-283330DD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C90C774-BBF7-5144-A698-FF6961B01098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0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C85C3-E747-2DB1-2343-F8A264062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A3B28-1A83-A0F7-EB1F-4C2EDBF7BC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i="1"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</m:oMath>
                </a14:m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CIFAR10 has limited impact on high-baseline ViTs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TW" i="1"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</m:oMath>
                </a14:m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stablelize training accuracy in CIFAR100</a:t>
                </a:r>
              </a:p>
              <a:p>
                <a:pPr>
                  <a:lnSpc>
                    <a:spcPct val="150000"/>
                  </a:lnSpc>
                </a:pPr>
                <a:r>
                  <a:rPr lang="en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User-Guided Ablation achieved significant, semantic-driven robustness improvement with scene-based bias dataset</a:t>
                </a:r>
              </a:p>
              <a:p>
                <a:endParaRPr lang="en-TW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EA3B28-1A83-A0F7-EB1F-4C2EDBF7BC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AB152-3568-54CC-2316-7EDA953EF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0C774-BBF7-5144-A698-FF6961B0109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34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17A0-DA12-96A8-2745-3C1F529E0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00AA2-954A-7990-9DF1-6A6738BFC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DeCAtt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Vision Transformers with Decorrelated Attention Heads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INTERPRETING CLIP’S IMAGE REPRESENTATION VIA TEXT-BASED DECOMPOSITION</a:t>
            </a:r>
          </a:p>
          <a:p>
            <a:endParaRPr lang="en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4CB44-D8CD-4BDA-BB59-8D9EEB5D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0C774-BBF7-5144-A698-FF6961B0109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769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E5234-D92E-4F9B-0AE3-BA9C4B88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0C774-BBF7-5144-A698-FF6961B0109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E4E75-83C8-F9E4-30E4-A7111F92A68D}"/>
              </a:ext>
            </a:extLst>
          </p:cNvPr>
          <p:cNvSpPr txBox="1"/>
          <p:nvPr/>
        </p:nvSpPr>
        <p:spPr>
          <a:xfrm>
            <a:off x="3555881" y="3044279"/>
            <a:ext cx="4729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2471299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" panose="021105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Helvetica"/>
        <a:font script="Hebr" typeface="Helvetic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Helvetic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3925</TotalTime>
  <Words>1665</Words>
  <Application>Microsoft Macintosh PowerPoint</Application>
  <PresentationFormat>Widescreen</PresentationFormat>
  <Paragraphs>234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 Math</vt:lpstr>
      <vt:lpstr>Helvetica</vt:lpstr>
      <vt:lpstr>Times New Roman</vt:lpstr>
      <vt:lpstr>Office Theme</vt:lpstr>
      <vt:lpstr>Efficient Vision Transformer with Decorrelated Attention Head Output</vt:lpstr>
      <vt:lpstr>Problem and Approach</vt:lpstr>
      <vt:lpstr>Diversity Loss Calculation</vt:lpstr>
      <vt:lpstr>Result 1: L_div  Limitation on CIFAR10</vt:lpstr>
      <vt:lpstr>Result 1: ViT’s Natural Diversity </vt:lpstr>
      <vt:lpstr>Result 2: L_div  establish stability on CIFAR100 </vt:lpstr>
      <vt:lpstr>Result 3: L_div  Improvement on Waterbird </vt:lpstr>
      <vt:lpstr>Result 3: Waterbirds - Loss vs. Ablation</vt:lpstr>
      <vt:lpstr>Why ablation works?</vt:lpstr>
      <vt:lpstr>Insights and Conclusion</vt:lpstr>
      <vt:lpstr>Summary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Seth Scafani</dc:creator>
  <cp:lastModifiedBy>Yu-Hung Kung</cp:lastModifiedBy>
  <cp:revision>24</cp:revision>
  <dcterms:created xsi:type="dcterms:W3CDTF">2020-05-18T18:03:01Z</dcterms:created>
  <dcterms:modified xsi:type="dcterms:W3CDTF">2025-12-04T22:38:29Z</dcterms:modified>
</cp:coreProperties>
</file>