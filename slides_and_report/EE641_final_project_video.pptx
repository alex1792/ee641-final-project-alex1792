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2"/>
  </p:notesMasterIdLst>
  <p:sldIdLst>
    <p:sldId id="257" r:id="rId2"/>
    <p:sldId id="258" r:id="rId3"/>
    <p:sldId id="259" r:id="rId4"/>
    <p:sldId id="269" r:id="rId5"/>
    <p:sldId id="260" r:id="rId6"/>
    <p:sldId id="261" r:id="rId7"/>
    <p:sldId id="263" r:id="rId8"/>
    <p:sldId id="266" r:id="rId9"/>
    <p:sldId id="270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8"/>
    <p:restoredTop sz="91009"/>
  </p:normalViewPr>
  <p:slideViewPr>
    <p:cSldViewPr snapToGrid="0" snapToObjects="1">
      <p:cViewPr>
        <p:scale>
          <a:sx n="116" d="100"/>
          <a:sy n="116" d="100"/>
        </p:scale>
        <p:origin x="928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A03FF-DDB9-E947-B8EB-01E398B539B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FAEF1-F52F-E542-8DA7-71CAC2ACF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 I am Alex. Today I am presenting my final project: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"Efficient Vision Transformer with Decorrelated Attention Head Output."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21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project addresses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Redundancy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Vision Transformers. Since many attention heads learn identical features, my goal is to penalize this redundancy. I propose 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ViT-DeCV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adds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Diversity Loss (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term to the total loss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0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how do we calculate this Diversity Loss? Please look at the diagram.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take the output vectors from all attention heads in the last layer and stack them into a matrix X.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compute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 Similarity Matrix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(S).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crucial part: We subtract the Identity matrix (I) to remove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self-similarity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we apply a 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 because we only want to penalize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 correlations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(redundancy). 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calculate the Frobenius norm to get a single scalar value for our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68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CIFAR-10, we found something interesting. Look at the green curve: the decorrelation loss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decreases naturally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 without our penalty. 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3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proves Pre-trained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possess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"Natural Diversity."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Because of this, adding my loss to a high-performing baseline like CIFAR-10 yielded only a marginal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0.9% improvement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the model was already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68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on the complex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CIFAR-100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task, the method shines. Please focus on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Deviation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While accuracy improved by 3%, the baseline variance was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0.06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With my Diversity Loss, it dropped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0.001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This proves that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is a powerful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Stabilizer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ensuring consistent performance across training runs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31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on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Waterbirds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dataset, I compared my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Approach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against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 Approach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(User-Guided Ablation). My Diversity Loss 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​) actually slightly hurt performance (-0.52%). In contrast,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 Ablation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—removing heads focusing on backgrounds—improved accuracy by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1.46%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 This shows that for fixing bias,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 Understanding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more effective than blind statistical orthogonality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 my findings: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is the Natural Diversity: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naturally diversify themselves, limiting gains on simple tasks like CIFAR-10.</a:t>
            </a:r>
          </a:p>
          <a:p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Stability: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proposed Diversity Loss is highly effective at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stabilizing training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seen in the significant standard deviation drop on CIFAR-100.</a:t>
            </a:r>
          </a:p>
          <a:p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the Difference between Semantic and Statistical optimization: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fixing bias and robustness, semantic interventions (such as Ablation) are more effective than purely statistical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83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78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concludes my presentation. Thank you for listening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F93B-DB02-C446-8690-3214B4B0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248" y="1137766"/>
            <a:ext cx="8227322" cy="342471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018FA-5D66-D744-BAB9-06E8BA778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248" y="4589463"/>
            <a:ext cx="8229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DBDA1-151A-8E43-830C-8668A317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7248" y="6291072"/>
            <a:ext cx="1600200" cy="365125"/>
          </a:xfrm>
        </p:spPr>
        <p:txBody>
          <a:bodyPr/>
          <a:lstStyle/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7458-726B-3D43-ACE8-84C3DD85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7448" y="6291072"/>
            <a:ext cx="66294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9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7F4F-B240-454D-87C8-814B5B80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C0B7-E2D6-154D-89EB-AD6CB902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1FC4-27E8-4645-9E46-DDC7A265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May 18,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3EE6-A6CD-804E-B864-E148529E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0985-27CB-9744-9671-1589C667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C90C774-BBF7-5144-A698-FF6961B010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16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9E5C-A647-0145-812B-785C5BA2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60DD-E674-AB44-81E9-8B98C9AE0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233F4-29DD-E347-83FE-3C3918A62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9AFC2-F4DF-5E4B-AB58-A15BBDF0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443-0801-D04A-8917-389EAA84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884F-A313-3146-B2A8-73A4C53A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9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FA78-1BA5-C34A-A4EA-2466E09C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D65B6-2A84-434A-9DEA-F7A0CFC5E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BFE49-5351-344B-8F76-8228DD33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E0A2E-48BF-3043-8963-D17553463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49585-F2FB-3A43-B859-72E653BDE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3E791-A288-514A-8A08-FBC4D910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24217-70AC-E64D-904C-437EEC12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E63D2-2A32-DE49-8C63-DFC6A84E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855E-97E5-6C40-82E2-687DD7F0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55E08-5F80-5D48-A04F-AE508874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706D6-7B69-0E44-A5B5-D184431F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AB149-3631-2B47-947D-F0DDF067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0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828F3-A29B-E34A-AC4D-D1978855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55D0D-0ECF-AA47-B8C8-DF72D013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B03C7-FB0A-ED4A-AD17-13B47DE6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3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6FC6-D7BF-1743-BD1A-F3EC11A8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E8C8-89A1-0441-BFD4-0638CF9A0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5D9E3-0E82-DB44-B17B-E2D161B2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0E096-15BE-974A-951C-0E9FC759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7BEA8-DF66-F044-93D3-A705BE7D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EC754-9A27-7640-99CF-154F9AFA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1194-46A6-0E41-9068-276E5BE7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CFC89-9BF5-C44A-B1D3-277F475D6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4BD2-722C-EE44-8E72-F70CA36A1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DE30-78D7-EC4D-9A6D-06C60437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03251-C6CE-6A45-A640-21EC8326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16348-546B-384D-AB7B-F56B6E0A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3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8E88-66D9-E544-AEB1-AAA595D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90E00-95CE-7746-9209-5F4A0D80C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0F3B-BC83-3643-9793-C0C3B699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0B40F-B518-F24E-9017-DB3FD435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37665-54D6-3249-953C-B4D57511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8009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5701C-5533-364D-AEAC-2BC96687E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5A535-0A72-7540-935E-64AFA50B8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74679-918A-B247-9B5C-3E7883ED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3CBB2-E013-1142-B0B3-7D11195D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CAA8-AEE2-3D43-8B59-87BE82DF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842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C90CA-2550-334F-B142-874B3D47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55F25-558A-D040-9191-8A2A1B566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04F7-1BCC-0E4E-BC21-6C3D87918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24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0F39-9994-C944-90B6-11AF51D61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9624" y="61813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29DC8-7B81-7D42-BBC6-F8FBD5477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9184" y="6492240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4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8.png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FC45-4DF2-B948-8B03-548DDF30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818" y="1143000"/>
            <a:ext cx="8225631" cy="341947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Vision Transformer with Decorrelated Attention Head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DD6F8-8954-C94C-8BE9-C27FABE1F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 (Yu-Hung) Kung</a:t>
            </a:r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0E91D43C-6BD2-9119-97DE-7AFB2E2FC9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05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80"/>
    </mc:Choice>
    <mc:Fallback>
      <p:transition spd="slow" advTm="133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44EF-948F-45B1-5464-3E467252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Problem and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6E92B-B785-E0CA-E443-315930FF3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Problem: Enhancing Vision Transformer Performance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 Improve model performance by penalizing similar output of individual attention heads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Approach: Regularization and Decoupling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Introduce Diversity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r>
                  <a:rPr lang="en-TW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term to the total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TW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lvl="2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TW" sz="2500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𝑐𝑙𝑎𝑠𝑠𝑖𝑓𝑖𝑐𝑎𝑡𝑖𝑜𝑛</m:t>
                        </m:r>
                      </m:sub>
                    </m:sSub>
                    <m:r>
                      <a:rPr lang="en-TW" sz="2500" i="1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TW" sz="25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TW" sz="25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5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endParaRPr lang="en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8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TW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defreeze layers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model: Fine-tune a pretrained ViT model</a:t>
                </a:r>
              </a:p>
              <a:p>
                <a:pPr lvl="2"/>
                <a:endParaRPr lang="en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6E92B-B785-E0CA-E443-315930FF3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 b="-116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61F06-4414-2B73-5C0C-DDD8BD45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7" name="Audio 36">
            <a:extLst>
              <a:ext uri="{FF2B5EF4-FFF2-40B4-BE49-F238E27FC236}">
                <a16:creationId xmlns:a16="http://schemas.microsoft.com/office/drawing/2014/main" id="{51615DE6-7A1D-F51B-7CE4-802BD2260F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31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01"/>
    </mc:Choice>
    <mc:Fallback>
      <p:transition spd="slow" advTm="223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EC4D-0B11-6132-9D15-3F8B7354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Diversity Loss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14819-DA4F-42E9-C839-AED517E1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image2.jpg">
            <a:extLst>
              <a:ext uri="{FF2B5EF4-FFF2-40B4-BE49-F238E27FC236}">
                <a16:creationId xmlns:a16="http://schemas.microsoft.com/office/drawing/2014/main" id="{65C0F609-78A0-269B-B4A8-6D2A84DE2B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5"/>
          <a:srcRect t="18617" b="29510"/>
          <a:stretch>
            <a:fillRect/>
          </a:stretch>
        </p:blipFill>
        <p:spPr>
          <a:xfrm>
            <a:off x="838200" y="1474437"/>
            <a:ext cx="10515600" cy="306830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BB33C-713F-9D16-E0F8-19F162244F79}"/>
                  </a:ext>
                </a:extLst>
              </p:cNvPr>
              <p:cNvSpPr txBox="1"/>
              <p:nvPr/>
            </p:nvSpPr>
            <p:spPr>
              <a:xfrm>
                <a:off x="1655379" y="4869229"/>
                <a:ext cx="8881242" cy="13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Diversity Loss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4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TW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𝑅𝑒𝐿𝑈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TW" sz="2400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TW" sz="240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Reduce Self Similarity</a:t>
                </a:r>
              </a:p>
              <a:p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ReLU: Focus on positive similarity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BB33C-713F-9D16-E0F8-19F16224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379" y="4869229"/>
                <a:ext cx="8881242" cy="1368901"/>
              </a:xfrm>
              <a:prstGeom prst="rect">
                <a:avLst/>
              </a:prstGeom>
              <a:blipFill>
                <a:blip r:embed="rId6"/>
                <a:stretch>
                  <a:fillRect l="-1143" b="-9174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Audio 68">
            <a:extLst>
              <a:ext uri="{FF2B5EF4-FFF2-40B4-BE49-F238E27FC236}">
                <a16:creationId xmlns:a16="http://schemas.microsoft.com/office/drawing/2014/main" id="{9847D79C-27B8-7A4D-BC28-CE677F8F07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28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750"/>
    </mc:Choice>
    <mc:Fallback>
      <p:transition spd="slow" advTm="40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66377-2567-C471-4E7D-D86381D2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1: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ViT’s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Natural Diversity </a:t>
            </a:r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8ABE045D-29AD-6706-925D-97199009D3B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5"/>
          <a:srcRect t="7080" r="-2" b="9900"/>
          <a:stretch>
            <a:fillRect/>
          </a:stretch>
        </p:blipFill>
        <p:spPr>
          <a:xfrm>
            <a:off x="99958" y="1963375"/>
            <a:ext cx="5803323" cy="3890357"/>
          </a:xfrm>
          <a:prstGeom prst="rect">
            <a:avLst/>
          </a:prstGeom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2F275431-B487-F381-CA22-88F083AA4019}"/>
              </a:ext>
            </a:extLst>
          </p:cNvPr>
          <p:cNvPicPr/>
          <p:nvPr/>
        </p:nvPicPr>
        <p:blipFill>
          <a:blip r:embed="rId6"/>
          <a:srcRect t="8144" r="-2" b="7796"/>
          <a:stretch>
            <a:fillRect/>
          </a:stretch>
        </p:blipFill>
        <p:spPr>
          <a:xfrm>
            <a:off x="6091151" y="1963375"/>
            <a:ext cx="5803323" cy="38903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7085-308D-4B8E-E594-A4351F72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028903-A571-4290-87D3-383C77DDECF5}"/>
                  </a:ext>
                </a:extLst>
              </p:cNvPr>
              <p:cNvSpPr txBox="1"/>
              <p:nvPr/>
            </p:nvSpPr>
            <p:spPr>
              <a:xfrm>
                <a:off x="3894491" y="5987018"/>
                <a:ext cx="4393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W" dirty="0"/>
                  <a:t>Decorrelation loss decreases when </a:t>
                </a:r>
                <a14:m>
                  <m:oMath xmlns:m="http://schemas.openxmlformats.org/officeDocument/2006/math">
                    <m:r>
                      <a:rPr lang="en-TW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TW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028903-A571-4290-87D3-383C77DDE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491" y="5987018"/>
                <a:ext cx="4393319" cy="369332"/>
              </a:xfrm>
              <a:prstGeom prst="rect">
                <a:avLst/>
              </a:prstGeom>
              <a:blipFill>
                <a:blip r:embed="rId7"/>
                <a:stretch>
                  <a:fillRect l="-1153" t="-6667" b="-2666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Audio 68">
            <a:extLst>
              <a:ext uri="{FF2B5EF4-FFF2-40B4-BE49-F238E27FC236}">
                <a16:creationId xmlns:a16="http://schemas.microsoft.com/office/drawing/2014/main" id="{97051FAD-CD42-DA2D-63F3-B6F1746678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76"/>
    </mc:Choice>
    <mc:Fallback>
      <p:transition spd="slow" advTm="133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B0048-0608-673C-C2B4-8E6F36929F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5155" y="552906"/>
                <a:ext cx="5165936" cy="1674904"/>
              </a:xfrm>
            </p:spPr>
            <p:txBody>
              <a:bodyPr anchor="ctr">
                <a:normAutofit/>
              </a:bodyPr>
              <a:lstStyle/>
              <a:p>
                <a:r>
                  <a:rPr lang="en-TW" sz="3700" dirty="0"/>
                  <a:t>Result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3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3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37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TW" sz="3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sz="3700" dirty="0"/>
                  <a:t>Limitation on CIFAR10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B0048-0608-673C-C2B4-8E6F36929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5155" y="552906"/>
                <a:ext cx="5165936" cy="1674904"/>
              </a:xfrm>
              <a:blipFill>
                <a:blip r:embed="rId5"/>
                <a:stretch>
                  <a:fillRect l="-3676" r="-49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7827-72C9-797C-0315-7F44A2CD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CIFAR10</a:t>
            </a:r>
          </a:p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model: ViT (google/vit-base-patch16-224-in21k)</a:t>
            </a:r>
          </a:p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High-Baseline, difficult to make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E156D-0619-0090-0A94-B472D516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0D968F-4DBD-744A-7927-CF4B752E51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880176"/>
                  </p:ext>
                </p:extLst>
              </p:nvPr>
            </p:nvGraphicFramePr>
            <p:xfrm>
              <a:off x="835166" y="2620606"/>
              <a:ext cx="10515572" cy="346848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1603098">
                      <a:extLst>
                        <a:ext uri="{9D8B030D-6E8A-4147-A177-3AD203B41FA5}">
                          <a16:colId xmlns:a16="http://schemas.microsoft.com/office/drawing/2014/main" val="699507675"/>
                        </a:ext>
                      </a:extLst>
                    </a:gridCol>
                    <a:gridCol w="2311494">
                      <a:extLst>
                        <a:ext uri="{9D8B030D-6E8A-4147-A177-3AD203B41FA5}">
                          <a16:colId xmlns:a16="http://schemas.microsoft.com/office/drawing/2014/main" val="1569242005"/>
                        </a:ext>
                      </a:extLst>
                    </a:gridCol>
                    <a:gridCol w="853703">
                      <a:extLst>
                        <a:ext uri="{9D8B030D-6E8A-4147-A177-3AD203B41FA5}">
                          <a16:colId xmlns:a16="http://schemas.microsoft.com/office/drawing/2014/main" val="2659606017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1172008820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2379286373"/>
                        </a:ext>
                      </a:extLst>
                    </a:gridCol>
                    <a:gridCol w="1546154">
                      <a:extLst>
                        <a:ext uri="{9D8B030D-6E8A-4147-A177-3AD203B41FA5}">
                          <a16:colId xmlns:a16="http://schemas.microsoft.com/office/drawing/2014/main" val="1912194065"/>
                        </a:ext>
                      </a:extLst>
                    </a:gridCol>
                    <a:gridCol w="1646377">
                      <a:extLst>
                        <a:ext uri="{9D8B030D-6E8A-4147-A177-3AD203B41FA5}">
                          <a16:colId xmlns:a16="http://schemas.microsoft.com/office/drawing/2014/main" val="1143804057"/>
                        </a:ext>
                      </a:extLst>
                    </a:gridCol>
                  </a:tblGrid>
                  <a:tr h="97534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Model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 dirty="0">
                              <a:solidFill>
                                <a:srgbClr val="FFFFFF"/>
                              </a:solidFill>
                              <a:effectLst/>
                            </a:rPr>
                            <a:t>Defreeze Layer</a:t>
                          </a:r>
                          <a:endParaRPr lang="en-TW" sz="2000" b="1" dirty="0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TW" sz="2000" b="1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Epoch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Train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Val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Accuracy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021134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8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0.019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0.1537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95.95%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235110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0.021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0.1504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rgbClr val="FF0000"/>
                              </a:solidFill>
                              <a:effectLst/>
                            </a:rPr>
                            <a:t>96.85%</a:t>
                          </a:r>
                          <a:endParaRPr lang="en-TW" sz="200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541781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0.031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0.1716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96.35%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8431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0.0751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0.1957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accent1"/>
                              </a:solidFill>
                              <a:effectLst/>
                            </a:rPr>
                            <a:t>95.70%</a:t>
                          </a:r>
                          <a:endParaRPr lang="en-TW" sz="2000" dirty="0">
                            <a:solidFill>
                              <a:schemeClr val="accent1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2035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0D968F-4DBD-744A-7927-CF4B752E51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880176"/>
                  </p:ext>
                </p:extLst>
              </p:nvPr>
            </p:nvGraphicFramePr>
            <p:xfrm>
              <a:off x="835166" y="2620606"/>
              <a:ext cx="10515572" cy="346848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1603098">
                      <a:extLst>
                        <a:ext uri="{9D8B030D-6E8A-4147-A177-3AD203B41FA5}">
                          <a16:colId xmlns:a16="http://schemas.microsoft.com/office/drawing/2014/main" val="699507675"/>
                        </a:ext>
                      </a:extLst>
                    </a:gridCol>
                    <a:gridCol w="2311494">
                      <a:extLst>
                        <a:ext uri="{9D8B030D-6E8A-4147-A177-3AD203B41FA5}">
                          <a16:colId xmlns:a16="http://schemas.microsoft.com/office/drawing/2014/main" val="1569242005"/>
                        </a:ext>
                      </a:extLst>
                    </a:gridCol>
                    <a:gridCol w="853703">
                      <a:extLst>
                        <a:ext uri="{9D8B030D-6E8A-4147-A177-3AD203B41FA5}">
                          <a16:colId xmlns:a16="http://schemas.microsoft.com/office/drawing/2014/main" val="2659606017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1172008820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2379286373"/>
                        </a:ext>
                      </a:extLst>
                    </a:gridCol>
                    <a:gridCol w="1546154">
                      <a:extLst>
                        <a:ext uri="{9D8B030D-6E8A-4147-A177-3AD203B41FA5}">
                          <a16:colId xmlns:a16="http://schemas.microsoft.com/office/drawing/2014/main" val="1912194065"/>
                        </a:ext>
                      </a:extLst>
                    </a:gridCol>
                    <a:gridCol w="1646377">
                      <a:extLst>
                        <a:ext uri="{9D8B030D-6E8A-4147-A177-3AD203B41FA5}">
                          <a16:colId xmlns:a16="http://schemas.microsoft.com/office/drawing/2014/main" val="1143804057"/>
                        </a:ext>
                      </a:extLst>
                    </a:gridCol>
                  </a:tblGrid>
                  <a:tr h="97534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Model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 dirty="0">
                              <a:solidFill>
                                <a:srgbClr val="FFFFFF"/>
                              </a:solidFill>
                              <a:effectLst/>
                            </a:rPr>
                            <a:t>Defreeze Layer</a:t>
                          </a:r>
                          <a:endParaRPr lang="en-TW" sz="2000" b="1" dirty="0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461194" t="-1299" r="-679104" b="-259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Epoch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Train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Val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Accuracy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021134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8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0.019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0.1537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95.95%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235110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0.021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0.1504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rgbClr val="FF0000"/>
                              </a:solidFill>
                              <a:effectLst/>
                            </a:rPr>
                            <a:t>96.85%</a:t>
                          </a:r>
                          <a:endParaRPr lang="en-TW" sz="200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541781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0.031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0.1716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96.35%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8431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0.0751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0.1957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dirty="0">
                              <a:solidFill>
                                <a:schemeClr val="accent1"/>
                              </a:solidFill>
                              <a:effectLst/>
                            </a:rPr>
                            <a:t>95.70%</a:t>
                          </a:r>
                          <a:endParaRPr lang="en-TW" sz="2000" dirty="0">
                            <a:solidFill>
                              <a:schemeClr val="accent1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203517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Audio 14">
            <a:extLst>
              <a:ext uri="{FF2B5EF4-FFF2-40B4-BE49-F238E27FC236}">
                <a16:creationId xmlns:a16="http://schemas.microsoft.com/office/drawing/2014/main" id="{6F03CC69-3EBD-ED92-6B6D-D77C31CAA9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3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424"/>
    </mc:Choice>
    <mc:Fallback>
      <p:transition spd="slow" advTm="19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09DE9B-F372-D39A-24E7-4A5909A83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04410" y="1105288"/>
                <a:ext cx="4104861" cy="139886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US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stability on CIFAR100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09DE9B-F372-D39A-24E7-4A5909A83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04410" y="1105288"/>
                <a:ext cx="4104861" cy="1398867"/>
              </a:xfrm>
              <a:blipFill>
                <a:blip r:embed="rId5"/>
                <a:stretch>
                  <a:fillRect l="-3704" t="-8929" r="-2469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5FA9AD-8EDD-33BE-B795-2E861BA3B45D}"/>
              </a:ext>
            </a:extLst>
          </p:cNvPr>
          <p:cNvSpPr txBox="1">
            <a:spLocks/>
          </p:cNvSpPr>
          <p:nvPr/>
        </p:nvSpPr>
        <p:spPr>
          <a:xfrm>
            <a:off x="5341546" y="751555"/>
            <a:ext cx="5946040" cy="24515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CIFAR100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(google/vit-base-patch16-224-in21k)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different number of parameters, hyper-parameters, seeds, and calculate the average accuracy and its standard deviation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3% improvement on accuracy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standard deviation, establish stability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87DBA-4D21-771E-1FF8-B70A5C72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AAB2F2D-B6A0-029E-2137-13F1631EC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689411"/>
              </p:ext>
            </p:extLst>
          </p:nvPr>
        </p:nvGraphicFramePr>
        <p:xfrm>
          <a:off x="904410" y="3421707"/>
          <a:ext cx="10383180" cy="2451529"/>
        </p:xfrm>
        <a:graphic>
          <a:graphicData uri="http://schemas.openxmlformats.org/drawingml/2006/table">
            <a:tbl>
              <a:tblPr firstRow="1" bandRow="1">
                <a:noFill/>
                <a:tableStyleId>{F5AB1C69-6EDB-4FF4-983F-18BD219EF322}</a:tableStyleId>
              </a:tblPr>
              <a:tblGrid>
                <a:gridCol w="1690076">
                  <a:extLst>
                    <a:ext uri="{9D8B030D-6E8A-4147-A177-3AD203B41FA5}">
                      <a16:colId xmlns:a16="http://schemas.microsoft.com/office/drawing/2014/main" val="606156816"/>
                    </a:ext>
                  </a:extLst>
                </a:gridCol>
                <a:gridCol w="1718632">
                  <a:extLst>
                    <a:ext uri="{9D8B030D-6E8A-4147-A177-3AD203B41FA5}">
                      <a16:colId xmlns:a16="http://schemas.microsoft.com/office/drawing/2014/main" val="3717503849"/>
                    </a:ext>
                  </a:extLst>
                </a:gridCol>
                <a:gridCol w="1630926">
                  <a:extLst>
                    <a:ext uri="{9D8B030D-6E8A-4147-A177-3AD203B41FA5}">
                      <a16:colId xmlns:a16="http://schemas.microsoft.com/office/drawing/2014/main" val="3612079404"/>
                    </a:ext>
                  </a:extLst>
                </a:gridCol>
                <a:gridCol w="1732910">
                  <a:extLst>
                    <a:ext uri="{9D8B030D-6E8A-4147-A177-3AD203B41FA5}">
                      <a16:colId xmlns:a16="http://schemas.microsoft.com/office/drawing/2014/main" val="1716849870"/>
                    </a:ext>
                  </a:extLst>
                </a:gridCol>
                <a:gridCol w="1804298">
                  <a:extLst>
                    <a:ext uri="{9D8B030D-6E8A-4147-A177-3AD203B41FA5}">
                      <a16:colId xmlns:a16="http://schemas.microsoft.com/office/drawing/2014/main" val="1188610180"/>
                    </a:ext>
                  </a:extLst>
                </a:gridCol>
                <a:gridCol w="1806338">
                  <a:extLst>
                    <a:ext uri="{9D8B030D-6E8A-4147-A177-3AD203B41FA5}">
                      <a16:colId xmlns:a16="http://schemas.microsoft.com/office/drawing/2014/main" val="2163680628"/>
                    </a:ext>
                  </a:extLst>
                </a:gridCol>
              </a:tblGrid>
              <a:tr h="1026039"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 dirty="0">
                          <a:solidFill>
                            <a:srgbClr val="FFFFFF"/>
                          </a:solidFill>
                        </a:rPr>
                        <a:t>D</a:t>
                      </a:r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efreeze layer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 dirty="0">
                          <a:solidFill>
                            <a:srgbClr val="FFFFFF"/>
                          </a:solidFill>
                        </a:rPr>
                        <a:t>L</a:t>
                      </a:r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ambda decorr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Learning rate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Standard Deviation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32173"/>
                  </a:ext>
                </a:extLst>
              </a:tr>
              <a:tr h="712745"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Baseline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83.75%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0.06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54668"/>
                  </a:ext>
                </a:extLst>
              </a:tr>
              <a:tr h="712745"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MyModel</a:t>
                      </a:r>
                    </a:p>
                  </a:txBody>
                  <a:tcPr marL="293713" marR="176228" marT="176228" marB="17622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rgbClr val="FF0000"/>
                          </a:solidFill>
                        </a:rPr>
                        <a:t>86.63%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rgbClr val="FF0000"/>
                          </a:solidFill>
                        </a:rPr>
                        <a:t>0.001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0323"/>
                  </a:ext>
                </a:extLst>
              </a:tr>
            </a:tbl>
          </a:graphicData>
        </a:graphic>
      </p:graphicFrame>
      <p:pic>
        <p:nvPicPr>
          <p:cNvPr id="28" name="Audio 27">
            <a:extLst>
              <a:ext uri="{FF2B5EF4-FFF2-40B4-BE49-F238E27FC236}">
                <a16:creationId xmlns:a16="http://schemas.microsoft.com/office/drawing/2014/main" id="{AAB55D09-BC20-5A50-FE41-795760F778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5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56"/>
    </mc:Choice>
    <mc:Fallback>
      <p:transition spd="slow" advTm="30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1128-E85D-179D-D4B4-9C61DF2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Result 3: Waterbirds - Loss vs. Ablation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D63C-4A0C-512B-2C8C-91EEA18803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Waterbirds dataset is known for scene-base bias</a:t>
                </a:r>
              </a:p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Fine-tune ViT-L-14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endParaRPr lang="en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User-guided ablation with ViT-L-14 using CLIP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D63C-4A0C-512B-2C8C-91EEA1880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2FEF5-1FD3-5AFB-FAC0-33C52941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F8AD26-8A41-334F-F939-73A110731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741848"/>
                  </p:ext>
                </p:extLst>
              </p:nvPr>
            </p:nvGraphicFramePr>
            <p:xfrm>
              <a:off x="838200" y="3429000"/>
              <a:ext cx="10515600" cy="219994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3620126"/>
                        </a:ext>
                      </a:extLst>
                    </a:gridCol>
                    <a:gridCol w="1664970">
                      <a:extLst>
                        <a:ext uri="{9D8B030D-6E8A-4147-A177-3AD203B41FA5}">
                          <a16:colId xmlns:a16="http://schemas.microsoft.com/office/drawing/2014/main" val="410694129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1457607580"/>
                        </a:ext>
                      </a:extLst>
                    </a:gridCol>
                    <a:gridCol w="3318510">
                      <a:extLst>
                        <a:ext uri="{9D8B030D-6E8A-4147-A177-3AD203B41FA5}">
                          <a16:colId xmlns:a16="http://schemas.microsoft.com/office/drawing/2014/main" val="3525584998"/>
                        </a:ext>
                      </a:extLst>
                    </a:gridCol>
                  </a:tblGrid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Strategy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Full Accuracy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Improvement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Analysis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031156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TW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TW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TW" sz="1800" i="1">
                                      <a:latin typeface="Cambria Math" panose="02040503050406030204" pitchFamily="18" charset="0"/>
                                    </a:rPr>
                                    <m:t>𝑑𝑖𝑣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TW" dirty="0"/>
                            <a:t> Regularization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91.75%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-0.52%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Slightly less than baseline model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9160347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user-guided ablation</a:t>
                          </a:r>
                          <a:endParaRPr lang="en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93.73%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+1.46%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Improve performance</a:t>
                          </a:r>
                          <a:endParaRPr lang="en-TW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77014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F8AD26-8A41-334F-F939-73A110731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741848"/>
                  </p:ext>
                </p:extLst>
              </p:nvPr>
            </p:nvGraphicFramePr>
            <p:xfrm>
              <a:off x="838200" y="3429000"/>
              <a:ext cx="10515600" cy="219994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3620126"/>
                        </a:ext>
                      </a:extLst>
                    </a:gridCol>
                    <a:gridCol w="1664970">
                      <a:extLst>
                        <a:ext uri="{9D8B030D-6E8A-4147-A177-3AD203B41FA5}">
                          <a16:colId xmlns:a16="http://schemas.microsoft.com/office/drawing/2014/main" val="410694129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1457607580"/>
                        </a:ext>
                      </a:extLst>
                    </a:gridCol>
                    <a:gridCol w="3318510">
                      <a:extLst>
                        <a:ext uri="{9D8B030D-6E8A-4147-A177-3AD203B41FA5}">
                          <a16:colId xmlns:a16="http://schemas.microsoft.com/office/drawing/2014/main" val="3525584998"/>
                        </a:ext>
                      </a:extLst>
                    </a:gridCol>
                  </a:tblGrid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Strategy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Full Accuracy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Improvement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Analysis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031156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83" t="-101724" r="-301449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91.75%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-0.52%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Slightly less than baseline model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9160347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user-guided ablation</a:t>
                          </a:r>
                          <a:endParaRPr lang="en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93.73%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+1.46%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Improve performance</a:t>
                          </a:r>
                          <a:endParaRPr lang="en-TW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77014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2" name="Audio 21">
            <a:extLst>
              <a:ext uri="{FF2B5EF4-FFF2-40B4-BE49-F238E27FC236}">
                <a16:creationId xmlns:a16="http://schemas.microsoft.com/office/drawing/2014/main" id="{286B0990-4BB4-F5E2-0A95-8428B62608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2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549"/>
    </mc:Choice>
    <mc:Fallback>
      <p:transition spd="slow" advTm="385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85C3-E747-2DB1-2343-F8A26406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A3B28-1A83-A0F7-EB1F-4C2EDBF7BC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 models appear to inherently learn a degree of attention head diversity during standard training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stablelize training accuracy in CIFAR100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User-Guided Ablation achieved significant, semantic-driven robustness improvement with scene-based bias dataset</a:t>
                </a:r>
              </a:p>
              <a:p>
                <a:endParaRPr lang="en-TW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A3B28-1A83-A0F7-EB1F-4C2EDBF7B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AB152-3568-54CC-2316-7EDA953E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7CCCEC71-B421-60DC-A5FB-140B33CC03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34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84"/>
    </mc:Choice>
    <mc:Fallback>
      <p:transition spd="slow" advTm="45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17A0-DA12-96A8-2745-3C1F529E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00AA2-954A-7990-9DF1-6A6738BF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DeCAtt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Vision Transformers with Decorrelated Attention Heads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INTERPRETING CLIP’S IMAGE REPRESENTATION VIA TEXT-BASED DECOMPOSITION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4CB44-D8CD-4BDA-BB59-8D9EEB5D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5CF91430-5E85-03E9-84DB-13263A39A7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69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2"/>
    </mc:Choice>
    <mc:Fallback>
      <p:transition spd="slow" advTm="8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E5234-D92E-4F9B-0AE3-BA9C4B88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E4E75-83C8-F9E4-30E4-A7111F92A68D}"/>
              </a:ext>
            </a:extLst>
          </p:cNvPr>
          <p:cNvSpPr txBox="1"/>
          <p:nvPr/>
        </p:nvSpPr>
        <p:spPr>
          <a:xfrm>
            <a:off x="3555881" y="3044279"/>
            <a:ext cx="4729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FF9DCA1B-C649-6B00-5DB8-DDC66280AD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99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69"/>
    </mc:Choice>
    <mc:Fallback>
      <p:transition spd="slow" advTm="6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" panose="021105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Helvetica"/>
        <a:font script="Hebr" typeface="Helvetic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4108</TotalTime>
  <Words>831</Words>
  <Application>Microsoft Macintosh PowerPoint</Application>
  <PresentationFormat>Widescreen</PresentationFormat>
  <Paragraphs>141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Helvetica</vt:lpstr>
      <vt:lpstr>Times New Roman</vt:lpstr>
      <vt:lpstr>Office Theme</vt:lpstr>
      <vt:lpstr>Efficient Vision Transformer with Decorrelated Attention Head Output</vt:lpstr>
      <vt:lpstr>Problem and Approach</vt:lpstr>
      <vt:lpstr>Diversity Loss Calculation</vt:lpstr>
      <vt:lpstr>Result 1: ViT’s Natural Diversity </vt:lpstr>
      <vt:lpstr>Result 1: L_div  Limitation on CIFAR10</vt:lpstr>
      <vt:lpstr>Result 2: L_div  establish stability on CIFAR100 </vt:lpstr>
      <vt:lpstr>Result 3: Waterbirds - Loss vs. Ablation</vt:lpstr>
      <vt:lpstr>Summary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Seth Scafani</dc:creator>
  <cp:lastModifiedBy>Yu-Hung Kung</cp:lastModifiedBy>
  <cp:revision>27</cp:revision>
  <dcterms:created xsi:type="dcterms:W3CDTF">2020-05-18T18:03:01Z</dcterms:created>
  <dcterms:modified xsi:type="dcterms:W3CDTF">2025-12-08T05:25:52Z</dcterms:modified>
</cp:coreProperties>
</file>